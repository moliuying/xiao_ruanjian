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ACB"/>
    <a:srgbClr val="4DB9CE"/>
    <a:srgbClr val="003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458" y="972"/>
      </p:cViewPr>
      <p:guideLst>
        <p:guide orient="horz" pos="2160"/>
        <p:guide pos="38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CF921-4E9C-472F-AB94-9751E69CB9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F7623-6203-4E59-9805-98F45D9B6F9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E:\桌面\BUP\软件设计\背景2.jpg背景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635" y="0"/>
            <a:ext cx="12193270" cy="68580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4390">
            <a:off x="4719207" y="432954"/>
            <a:ext cx="5195160" cy="62352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35175" y="561975"/>
            <a:ext cx="78511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13500000" scaled="1"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rPr>
              <a:t>福建福清核电有限公司</a:t>
            </a:r>
            <a:endParaRPr lang="en-US" altLang="zh-CN" sz="360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13500000" scaled="1"/>
              </a:gradFill>
              <a:latin typeface="字体圈欣意冠黑体" panose="00000500000000000000" pitchFamily="2" charset="-122"/>
              <a:ea typeface="字体圈欣意冠黑体" panose="00000500000000000000" pitchFamily="2" charset="-122"/>
            </a:endParaRPr>
          </a:p>
          <a:p>
            <a:pPr algn="ctr"/>
            <a:r>
              <a:rPr lang="zh-CN" altLang="en-US" sz="5400" b="1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13500000" scaled="1"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rPr>
              <a:t>运行人员基本功出题软件</a:t>
            </a:r>
            <a:endParaRPr lang="zh-CN" altLang="en-US" sz="5400" b="1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13500000" scaled="1"/>
              </a:gradFill>
              <a:latin typeface="字体圈欣意冠黑体" panose="00000500000000000000" pitchFamily="2" charset="-122"/>
              <a:ea typeface="字体圈欣意冠黑体" panose="00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35175" y="530860"/>
            <a:ext cx="78505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字体圈欣意冠黑体" panose="00000500000000000000" pitchFamily="2" charset="-122"/>
                <a:ea typeface="字体圈欣意冠黑体" panose="00000500000000000000" pitchFamily="2" charset="-122"/>
              </a:rPr>
              <a:t>福建福清核电有限公司</a:t>
            </a:r>
            <a:endParaRPr lang="en-US" altLang="zh-CN" sz="3600" dirty="0">
              <a:solidFill>
                <a:schemeClr val="bg1"/>
              </a:solidFill>
              <a:latin typeface="字体圈欣意冠黑体" panose="00000500000000000000" pitchFamily="2" charset="-122"/>
              <a:ea typeface="字体圈欣意冠黑体" panose="00000500000000000000" pitchFamily="2" charset="-122"/>
            </a:endParaRP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字体圈欣意冠黑体" panose="00000500000000000000" pitchFamily="2" charset="-122"/>
                <a:ea typeface="字体圈欣意冠黑体" panose="00000500000000000000" pitchFamily="2" charset="-122"/>
              </a:rPr>
              <a:t>运行人员基本功出题软件</a:t>
            </a:r>
            <a:endParaRPr lang="zh-CN" altLang="en-US" sz="5400" b="1" dirty="0">
              <a:solidFill>
                <a:schemeClr val="bg1"/>
              </a:solidFill>
              <a:latin typeface="字体圈欣意冠黑体" panose="00000500000000000000" pitchFamily="2" charset="-122"/>
              <a:ea typeface="字体圈欣意冠黑体" panose="00000500000000000000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244850" y="2305050"/>
            <a:ext cx="5695950" cy="2736849"/>
            <a:chOff x="3143250" y="2305050"/>
            <a:chExt cx="5695950" cy="2736849"/>
          </a:xfrm>
        </p:grpSpPr>
        <p:sp>
          <p:nvSpPr>
            <p:cNvPr id="6" name="矩形: 圆角 5"/>
            <p:cNvSpPr/>
            <p:nvPr/>
          </p:nvSpPr>
          <p:spPr>
            <a:xfrm>
              <a:off x="3143250" y="2305050"/>
              <a:ext cx="5695950" cy="2736849"/>
            </a:xfrm>
            <a:prstGeom prst="roundRect">
              <a:avLst>
                <a:gd name="adj" fmla="val 5525"/>
              </a:avLst>
            </a:prstGeom>
            <a:solidFill>
              <a:schemeClr val="bg1">
                <a:alpha val="20000"/>
              </a:schemeClr>
            </a:solidFill>
            <a:ln w="19050">
              <a:gradFill flip="none" rotWithShape="1">
                <a:gsLst>
                  <a:gs pos="48600">
                    <a:srgbClr val="0070C0">
                      <a:alpha val="0"/>
                    </a:srgbClr>
                  </a:gs>
                  <a:gs pos="0">
                    <a:schemeClr val="bg1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字体圈欣意冠黑体" panose="00000500000000000000" pitchFamily="2" charset="-122"/>
                <a:ea typeface="字体圈欣意冠黑体" panose="00000500000000000000" pitchFamily="2" charset="-122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3233754" y="2398457"/>
              <a:ext cx="5514942" cy="2541844"/>
            </a:xfrm>
            <a:prstGeom prst="roundRect">
              <a:avLst>
                <a:gd name="adj" fmla="val 4554"/>
              </a:avLst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字体圈欣意冠黑体" panose="00000500000000000000" pitchFamily="2" charset="-122"/>
                <a:ea typeface="字体圈欣意冠黑体" panose="00000500000000000000" pitchFamily="2" charset="-122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4619625" y="2398458"/>
              <a:ext cx="2743200" cy="566477"/>
            </a:xfrm>
            <a:custGeom>
              <a:avLst/>
              <a:gdLst>
                <a:gd name="connsiteX0" fmla="*/ 0 w 2743200"/>
                <a:gd name="connsiteY0" fmla="*/ 0 h 478867"/>
                <a:gd name="connsiteX1" fmla="*/ 2743200 w 2743200"/>
                <a:gd name="connsiteY1" fmla="*/ 0 h 478867"/>
                <a:gd name="connsiteX2" fmla="*/ 2743200 w 2743200"/>
                <a:gd name="connsiteY2" fmla="*/ 360331 h 478867"/>
                <a:gd name="connsiteX3" fmla="*/ 2624664 w 2743200"/>
                <a:gd name="connsiteY3" fmla="*/ 478867 h 478867"/>
                <a:gd name="connsiteX4" fmla="*/ 118536 w 2743200"/>
                <a:gd name="connsiteY4" fmla="*/ 478867 h 478867"/>
                <a:gd name="connsiteX5" fmla="*/ 0 w 2743200"/>
                <a:gd name="connsiteY5" fmla="*/ 360331 h 47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43200" h="478867">
                  <a:moveTo>
                    <a:pt x="0" y="0"/>
                  </a:moveTo>
                  <a:lnTo>
                    <a:pt x="2743200" y="0"/>
                  </a:lnTo>
                  <a:lnTo>
                    <a:pt x="2743200" y="360331"/>
                  </a:lnTo>
                  <a:cubicBezTo>
                    <a:pt x="2743200" y="425797"/>
                    <a:pt x="2690130" y="478867"/>
                    <a:pt x="2624664" y="478867"/>
                  </a:cubicBezTo>
                  <a:lnTo>
                    <a:pt x="118536" y="478867"/>
                  </a:lnTo>
                  <a:cubicBezTo>
                    <a:pt x="53070" y="478867"/>
                    <a:pt x="0" y="425797"/>
                    <a:pt x="0" y="36033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030A0"/>
                </a:gs>
                <a:gs pos="54000">
                  <a:srgbClr val="0070C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752814" y="2441715"/>
              <a:ext cx="2447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HarmonyOS Sans SC Medium" panose="00000600000000000000" pitchFamily="2" charset="-122"/>
                  <a:ea typeface="HarmonyOS Sans SC Medium" panose="00000600000000000000" pitchFamily="2" charset="-122"/>
                </a:rPr>
                <a:t>题库选择</a:t>
              </a:r>
              <a:endParaRPr lang="zh-CN" altLang="en-US" sz="2800" dirty="0">
                <a:solidFill>
                  <a:schemeClr val="bg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497499" y="3222539"/>
            <a:ext cx="2527300" cy="609600"/>
            <a:chOff x="3497499" y="3222539"/>
            <a:chExt cx="2527300" cy="609600"/>
          </a:xfrm>
        </p:grpSpPr>
        <p:sp>
          <p:nvSpPr>
            <p:cNvPr id="25" name="矩形: 圆角 24"/>
            <p:cNvSpPr/>
            <p:nvPr/>
          </p:nvSpPr>
          <p:spPr>
            <a:xfrm>
              <a:off x="3497499" y="3222539"/>
              <a:ext cx="2527300" cy="6096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54000" sx="101000" sy="101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800394" y="3296199"/>
              <a:ext cx="1931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gradFill>
                    <a:gsLst>
                      <a:gs pos="0">
                        <a:srgbClr val="7030A0"/>
                      </a:gs>
                      <a:gs pos="70000">
                        <a:srgbClr val="0070C0"/>
                      </a:gs>
                    </a:gsLst>
                    <a:lin ang="13500000" scaled="1"/>
                  </a:gradFill>
                  <a:latin typeface="HarmonyOS Sans SC Medium" panose="00000600000000000000" pitchFamily="2" charset="-122"/>
                  <a:ea typeface="HarmonyOS Sans SC Medium" panose="00000600000000000000" pitchFamily="2" charset="-122"/>
                </a:defRPr>
              </a:lvl1pPr>
            </a:lstStyle>
            <a:p>
              <a:r>
                <a:rPr lang="en-US" altLang="zh-CN" dirty="0"/>
                <a:t>BUP</a:t>
              </a:r>
              <a:r>
                <a:rPr lang="zh-CN" altLang="en-US" dirty="0"/>
                <a:t>设备定位</a:t>
              </a:r>
              <a:endParaRPr lang="zh-CN" altLang="en-US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497499" y="3956588"/>
            <a:ext cx="2580878" cy="609600"/>
            <a:chOff x="3497499" y="3956588"/>
            <a:chExt cx="2580878" cy="609600"/>
          </a:xfrm>
        </p:grpSpPr>
        <p:sp>
          <p:nvSpPr>
            <p:cNvPr id="29" name="矩形: 圆角 28"/>
            <p:cNvSpPr/>
            <p:nvPr/>
          </p:nvSpPr>
          <p:spPr>
            <a:xfrm>
              <a:off x="3497499" y="3956588"/>
              <a:ext cx="2527300" cy="6096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54000" sx="101000" sy="101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34960" y="4020189"/>
              <a:ext cx="2443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gradFill>
                    <a:gsLst>
                      <a:gs pos="0">
                        <a:srgbClr val="7030A0"/>
                      </a:gs>
                      <a:gs pos="70000">
                        <a:srgbClr val="0070C0"/>
                      </a:gs>
                    </a:gsLst>
                    <a:lin ang="13500000" scaled="1"/>
                  </a:gradFill>
                  <a:latin typeface="HarmonyOS Sans SC Medium" panose="00000600000000000000" pitchFamily="2" charset="-122"/>
                  <a:ea typeface="HarmonyOS Sans SC Medium" panose="00000600000000000000" pitchFamily="2" charset="-122"/>
                </a:defRPr>
              </a:lvl1pPr>
            </a:lstStyle>
            <a:p>
              <a:r>
                <a:rPr lang="zh-CN" altLang="en-US" dirty="0"/>
                <a:t>主控无规程操作</a:t>
              </a:r>
              <a:endParaRPr lang="zh-CN" alt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131956" y="3222539"/>
            <a:ext cx="2527300" cy="609600"/>
            <a:chOff x="6131956" y="3222539"/>
            <a:chExt cx="2527300" cy="609600"/>
          </a:xfrm>
        </p:grpSpPr>
        <p:sp>
          <p:nvSpPr>
            <p:cNvPr id="32" name="矩形: 圆角 31"/>
            <p:cNvSpPr/>
            <p:nvPr/>
          </p:nvSpPr>
          <p:spPr>
            <a:xfrm>
              <a:off x="6131956" y="3222539"/>
              <a:ext cx="2527300" cy="6096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54000" sx="101000" sy="101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368094" y="3296506"/>
              <a:ext cx="2103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gradFill>
                    <a:gsLst>
                      <a:gs pos="0">
                        <a:srgbClr val="7030A0"/>
                      </a:gs>
                      <a:gs pos="70000">
                        <a:srgbClr val="0070C0"/>
                      </a:gs>
                    </a:gsLst>
                    <a:lin ang="13500000" scaled="1"/>
                  </a:gradFill>
                  <a:latin typeface="HarmonyOS Sans SC Medium" panose="00000600000000000000" pitchFamily="2" charset="-122"/>
                  <a:ea typeface="HarmonyOS Sans SC Medium" panose="00000600000000000000" pitchFamily="2" charset="-122"/>
                </a:rPr>
                <a:t>现场设备定位</a:t>
              </a:r>
              <a:endParaRPr lang="zh-CN" altLang="en-US" sz="2400" dirty="0">
                <a:gradFill>
                  <a:gsLst>
                    <a:gs pos="0">
                      <a:srgbClr val="7030A0"/>
                    </a:gs>
                    <a:gs pos="70000">
                      <a:srgbClr val="0070C0"/>
                    </a:gs>
                  </a:gsLst>
                  <a:lin ang="13500000" scaled="1"/>
                </a:gradFill>
                <a:latin typeface="HarmonyOS Sans SC Medium" panose="00000600000000000000" pitchFamily="2" charset="-122"/>
                <a:ea typeface="HarmonyOS Sans SC Medium" panose="00000600000000000000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131956" y="3956588"/>
            <a:ext cx="2527300" cy="609600"/>
            <a:chOff x="6131956" y="3956588"/>
            <a:chExt cx="2527300" cy="609600"/>
          </a:xfrm>
        </p:grpSpPr>
        <p:sp>
          <p:nvSpPr>
            <p:cNvPr id="33" name="矩形: 圆角 32"/>
            <p:cNvSpPr/>
            <p:nvPr/>
          </p:nvSpPr>
          <p:spPr>
            <a:xfrm>
              <a:off x="6131956" y="3956588"/>
              <a:ext cx="2527300" cy="6096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54000" sx="101000" sy="101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368094" y="4020189"/>
              <a:ext cx="2103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gradFill>
                    <a:gsLst>
                      <a:gs pos="0">
                        <a:srgbClr val="7030A0"/>
                      </a:gs>
                      <a:gs pos="70000">
                        <a:srgbClr val="0070C0"/>
                      </a:gs>
                    </a:gsLst>
                    <a:lin ang="13500000" scaled="1"/>
                  </a:gradFill>
                  <a:latin typeface="HarmonyOS Sans SC Medium" panose="00000600000000000000" pitchFamily="2" charset="-122"/>
                  <a:ea typeface="HarmonyOS Sans SC Medium" panose="00000600000000000000" pitchFamily="2" charset="-122"/>
                </a:defRPr>
              </a:lvl1pPr>
            </a:lstStyle>
            <a:p>
              <a:r>
                <a:rPr lang="zh-CN" altLang="en-US" dirty="0"/>
                <a:t>现场应急操作</a:t>
              </a:r>
              <a:endParaRPr lang="zh-CN" altLang="en-US" dirty="0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079444" y="5114963"/>
            <a:ext cx="2316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运行二处三值制作</a:t>
            </a:r>
            <a:endParaRPr lang="zh-CN" altLang="en-US" dirty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monyOS Sans SC Medium" panose="00000600000000000000" pitchFamily="2" charset="-122"/>
              <a:ea typeface="HarmonyOS Sans SC Medium" panose="000006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E:\桌面\BUP\软件设计\背景2.jpg背景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4390">
            <a:off x="4719207" y="432954"/>
            <a:ext cx="5195160" cy="62352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94865" y="561975"/>
            <a:ext cx="78676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13500000" scaled="1"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rPr>
              <a:t>福建福清核电有限公司</a:t>
            </a:r>
            <a:endParaRPr lang="en-US" altLang="zh-CN" sz="360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13500000" scaled="1"/>
              </a:gradFill>
              <a:latin typeface="字体圈欣意冠黑体" panose="00000500000000000000" pitchFamily="2" charset="-122"/>
              <a:ea typeface="字体圈欣意冠黑体" panose="00000500000000000000" pitchFamily="2" charset="-122"/>
            </a:endParaRPr>
          </a:p>
          <a:p>
            <a:pPr algn="ctr"/>
            <a:r>
              <a:rPr lang="zh-CN" altLang="en-US" sz="5400" b="1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13500000" scaled="1"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rPr>
              <a:t>运行人员基本功出题软件</a:t>
            </a:r>
            <a:endParaRPr lang="zh-CN" altLang="en-US" sz="5400" b="1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13500000" scaled="1"/>
              </a:gradFill>
              <a:latin typeface="字体圈欣意冠黑体" panose="00000500000000000000" pitchFamily="2" charset="-122"/>
              <a:ea typeface="字体圈欣意冠黑体" panose="00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94230" y="530860"/>
            <a:ext cx="78682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字体圈欣意冠黑体" panose="00000500000000000000" pitchFamily="2" charset="-122"/>
                <a:ea typeface="字体圈欣意冠黑体" panose="00000500000000000000" pitchFamily="2" charset="-122"/>
              </a:rPr>
              <a:t>福建福清核电有限公司</a:t>
            </a:r>
            <a:endParaRPr lang="en-US" altLang="zh-CN" sz="3600" dirty="0">
              <a:solidFill>
                <a:schemeClr val="bg1"/>
              </a:solidFill>
              <a:latin typeface="字体圈欣意冠黑体" panose="00000500000000000000" pitchFamily="2" charset="-122"/>
              <a:ea typeface="字体圈欣意冠黑体" panose="00000500000000000000" pitchFamily="2" charset="-122"/>
            </a:endParaRP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字体圈欣意冠黑体" panose="00000500000000000000" pitchFamily="2" charset="-122"/>
                <a:ea typeface="字体圈欣意冠黑体" panose="00000500000000000000" pitchFamily="2" charset="-122"/>
              </a:rPr>
              <a:t>运行人员基本功出题软件</a:t>
            </a:r>
            <a:endParaRPr lang="zh-CN" altLang="en-US" sz="5400" b="1" dirty="0">
              <a:solidFill>
                <a:schemeClr val="bg1"/>
              </a:solidFill>
              <a:latin typeface="字体圈欣意冠黑体" panose="00000500000000000000" pitchFamily="2" charset="-122"/>
              <a:ea typeface="字体圈欣意冠黑体" panose="00000500000000000000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244850" y="2305050"/>
            <a:ext cx="5695950" cy="2736849"/>
            <a:chOff x="3143250" y="2305050"/>
            <a:chExt cx="5695950" cy="2736849"/>
          </a:xfrm>
        </p:grpSpPr>
        <p:sp>
          <p:nvSpPr>
            <p:cNvPr id="6" name="矩形: 圆角 5"/>
            <p:cNvSpPr/>
            <p:nvPr/>
          </p:nvSpPr>
          <p:spPr>
            <a:xfrm>
              <a:off x="3143250" y="2305050"/>
              <a:ext cx="5695950" cy="2736849"/>
            </a:xfrm>
            <a:prstGeom prst="roundRect">
              <a:avLst>
                <a:gd name="adj" fmla="val 5525"/>
              </a:avLst>
            </a:prstGeom>
            <a:solidFill>
              <a:schemeClr val="bg1">
                <a:alpha val="20000"/>
              </a:schemeClr>
            </a:solidFill>
            <a:ln w="19050">
              <a:gradFill flip="none" rotWithShape="1">
                <a:gsLst>
                  <a:gs pos="48600">
                    <a:srgbClr val="0070C0">
                      <a:alpha val="0"/>
                    </a:srgbClr>
                  </a:gs>
                  <a:gs pos="0">
                    <a:schemeClr val="bg1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字体圈欣意冠黑体" panose="00000500000000000000" pitchFamily="2" charset="-122"/>
                <a:ea typeface="字体圈欣意冠黑体" panose="00000500000000000000" pitchFamily="2" charset="-122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3233754" y="2398457"/>
              <a:ext cx="5514942" cy="2541844"/>
            </a:xfrm>
            <a:prstGeom prst="roundRect">
              <a:avLst>
                <a:gd name="adj" fmla="val 4554"/>
              </a:avLst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字体圈欣意冠黑体" panose="00000500000000000000" pitchFamily="2" charset="-122"/>
                <a:ea typeface="字体圈欣意冠黑体" panose="00000500000000000000" pitchFamily="2" charset="-122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4619625" y="2398458"/>
              <a:ext cx="2743200" cy="566477"/>
            </a:xfrm>
            <a:custGeom>
              <a:avLst/>
              <a:gdLst>
                <a:gd name="connsiteX0" fmla="*/ 0 w 2743200"/>
                <a:gd name="connsiteY0" fmla="*/ 0 h 478867"/>
                <a:gd name="connsiteX1" fmla="*/ 2743200 w 2743200"/>
                <a:gd name="connsiteY1" fmla="*/ 0 h 478867"/>
                <a:gd name="connsiteX2" fmla="*/ 2743200 w 2743200"/>
                <a:gd name="connsiteY2" fmla="*/ 360331 h 478867"/>
                <a:gd name="connsiteX3" fmla="*/ 2624664 w 2743200"/>
                <a:gd name="connsiteY3" fmla="*/ 478867 h 478867"/>
                <a:gd name="connsiteX4" fmla="*/ 118536 w 2743200"/>
                <a:gd name="connsiteY4" fmla="*/ 478867 h 478867"/>
                <a:gd name="connsiteX5" fmla="*/ 0 w 2743200"/>
                <a:gd name="connsiteY5" fmla="*/ 360331 h 47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43200" h="478867">
                  <a:moveTo>
                    <a:pt x="0" y="0"/>
                  </a:moveTo>
                  <a:lnTo>
                    <a:pt x="2743200" y="0"/>
                  </a:lnTo>
                  <a:lnTo>
                    <a:pt x="2743200" y="360331"/>
                  </a:lnTo>
                  <a:cubicBezTo>
                    <a:pt x="2743200" y="425797"/>
                    <a:pt x="2690130" y="478867"/>
                    <a:pt x="2624664" y="478867"/>
                  </a:cubicBezTo>
                  <a:lnTo>
                    <a:pt x="118536" y="478867"/>
                  </a:lnTo>
                  <a:cubicBezTo>
                    <a:pt x="53070" y="478867"/>
                    <a:pt x="0" y="425797"/>
                    <a:pt x="0" y="36033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030A0"/>
                </a:gs>
                <a:gs pos="54000">
                  <a:srgbClr val="0070C0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773770" y="2441715"/>
              <a:ext cx="2447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HarmonyOS Sans SC Medium" panose="00000600000000000000" pitchFamily="2" charset="-122"/>
                  <a:ea typeface="HarmonyOS Sans SC Medium" panose="00000600000000000000" pitchFamily="2" charset="-122"/>
                </a:rPr>
                <a:t>BUP</a:t>
              </a:r>
              <a:r>
                <a:rPr lang="zh-CN" altLang="en-US" sz="2800" dirty="0">
                  <a:solidFill>
                    <a:schemeClr val="bg1"/>
                  </a:solidFill>
                  <a:latin typeface="HarmonyOS Sans SC Medium" panose="00000600000000000000" pitchFamily="2" charset="-122"/>
                  <a:ea typeface="HarmonyOS Sans SC Medium" panose="00000600000000000000" pitchFamily="2" charset="-122"/>
                </a:rPr>
                <a:t>设备定位</a:t>
              </a:r>
              <a:endParaRPr lang="zh-CN" altLang="en-US" sz="2800" dirty="0">
                <a:solidFill>
                  <a:schemeClr val="bg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079444" y="5114963"/>
            <a:ext cx="2316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monyOS Sans SC Medium" panose="00000600000000000000" pitchFamily="2" charset="-122"/>
                <a:ea typeface="HarmonyOS Sans SC Medium" panose="00000600000000000000" pitchFamily="2" charset="-122"/>
              </a:defRPr>
            </a:lvl1pPr>
          </a:lstStyle>
          <a:p>
            <a:r>
              <a:rPr lang="zh-CN" altLang="en-US" dirty="0"/>
              <a:t>运行二处三值制作</a:t>
            </a:r>
            <a:endParaRPr lang="zh-CN" altLang="en-US" dirty="0"/>
          </a:p>
        </p:txBody>
      </p:sp>
      <p:grpSp>
        <p:nvGrpSpPr>
          <p:cNvPr id="44" name="组合 43"/>
          <p:cNvGrpSpPr/>
          <p:nvPr/>
        </p:nvGrpSpPr>
        <p:grpSpPr>
          <a:xfrm>
            <a:off x="7077630" y="3557818"/>
            <a:ext cx="1624898" cy="609600"/>
            <a:chOff x="3522662" y="3481618"/>
            <a:chExt cx="1624898" cy="609600"/>
          </a:xfrm>
        </p:grpSpPr>
        <p:grpSp>
          <p:nvGrpSpPr>
            <p:cNvPr id="45" name="组合 44"/>
            <p:cNvGrpSpPr/>
            <p:nvPr/>
          </p:nvGrpSpPr>
          <p:grpSpPr>
            <a:xfrm>
              <a:off x="3522662" y="3481618"/>
              <a:ext cx="1624898" cy="609600"/>
              <a:chOff x="3497497" y="3222539"/>
              <a:chExt cx="3204274" cy="6096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3497497" y="3222539"/>
                <a:ext cx="2945824" cy="6096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54000" sx="101000" sy="101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4598746" y="3310458"/>
                <a:ext cx="21030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>
                    <a:gradFill>
                      <a:gsLst>
                        <a:gs pos="0">
                          <a:srgbClr val="7030A0"/>
                        </a:gs>
                        <a:gs pos="70000">
                          <a:srgbClr val="0070C0"/>
                        </a:gs>
                      </a:gsLst>
                      <a:lin ang="13500000" scaled="1"/>
                    </a:gra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defRPr>
                </a:lvl1pPr>
              </a:lstStyle>
              <a:p>
                <a:r>
                  <a:rPr lang="zh-CN" altLang="en-US" dirty="0"/>
                  <a:t>困难</a:t>
                </a:r>
                <a:endParaRPr lang="zh-CN" altLang="en-US" dirty="0"/>
              </a:p>
            </p:txBody>
          </p:sp>
        </p:grpSp>
        <p:sp>
          <p:nvSpPr>
            <p:cNvPr id="46" name="任意多边形: 形状 45"/>
            <p:cNvSpPr/>
            <p:nvPr/>
          </p:nvSpPr>
          <p:spPr>
            <a:xfrm flipV="1">
              <a:off x="3697860" y="3815459"/>
              <a:ext cx="261504" cy="106984"/>
            </a:xfrm>
            <a:custGeom>
              <a:avLst/>
              <a:gdLst>
                <a:gd name="connsiteX0" fmla="*/ 0 w 390432"/>
                <a:gd name="connsiteY0" fmla="*/ 0 h 195217"/>
                <a:gd name="connsiteX1" fmla="*/ 390432 w 390432"/>
                <a:gd name="connsiteY1" fmla="*/ 0 h 195217"/>
                <a:gd name="connsiteX2" fmla="*/ 390432 w 390432"/>
                <a:gd name="connsiteY2" fmla="*/ 1 h 195217"/>
                <a:gd name="connsiteX3" fmla="*/ 195216 w 390432"/>
                <a:gd name="connsiteY3" fmla="*/ 195217 h 195217"/>
                <a:gd name="connsiteX4" fmla="*/ 0 w 390432"/>
                <a:gd name="connsiteY4" fmla="*/ 1 h 195217"/>
                <a:gd name="connsiteX0-1" fmla="*/ 390432 w 491074"/>
                <a:gd name="connsiteY0-2" fmla="*/ 1 h 195217"/>
                <a:gd name="connsiteX1-3" fmla="*/ 195216 w 491074"/>
                <a:gd name="connsiteY1-4" fmla="*/ 195217 h 195217"/>
                <a:gd name="connsiteX2-5" fmla="*/ 0 w 491074"/>
                <a:gd name="connsiteY2-6" fmla="*/ 1 h 195217"/>
                <a:gd name="connsiteX3-7" fmla="*/ 0 w 491074"/>
                <a:gd name="connsiteY3-8" fmla="*/ 0 h 195217"/>
                <a:gd name="connsiteX4-9" fmla="*/ 390432 w 491074"/>
                <a:gd name="connsiteY4-10" fmla="*/ 0 h 195217"/>
                <a:gd name="connsiteX5" fmla="*/ 491074 w 491074"/>
                <a:gd name="connsiteY5" fmla="*/ 100643 h 195217"/>
                <a:gd name="connsiteX0-11" fmla="*/ 390432 w 390432"/>
                <a:gd name="connsiteY0-12" fmla="*/ 132617 h 327833"/>
                <a:gd name="connsiteX1-13" fmla="*/ 195216 w 390432"/>
                <a:gd name="connsiteY1-14" fmla="*/ 327833 h 327833"/>
                <a:gd name="connsiteX2-15" fmla="*/ 0 w 390432"/>
                <a:gd name="connsiteY2-16" fmla="*/ 132617 h 327833"/>
                <a:gd name="connsiteX3-17" fmla="*/ 0 w 390432"/>
                <a:gd name="connsiteY3-18" fmla="*/ 132616 h 327833"/>
                <a:gd name="connsiteX4-19" fmla="*/ 390432 w 390432"/>
                <a:gd name="connsiteY4-20" fmla="*/ 132616 h 327833"/>
                <a:gd name="connsiteX5-21" fmla="*/ 82214 w 390432"/>
                <a:gd name="connsiteY5-22" fmla="*/ 0 h 327833"/>
                <a:gd name="connsiteX0-23" fmla="*/ 390432 w 390432"/>
                <a:gd name="connsiteY0-24" fmla="*/ 152014 h 347230"/>
                <a:gd name="connsiteX1-25" fmla="*/ 195216 w 390432"/>
                <a:gd name="connsiteY1-26" fmla="*/ 347230 h 347230"/>
                <a:gd name="connsiteX2-27" fmla="*/ 0 w 390432"/>
                <a:gd name="connsiteY2-28" fmla="*/ 152014 h 347230"/>
                <a:gd name="connsiteX3-29" fmla="*/ 0 w 390432"/>
                <a:gd name="connsiteY3-30" fmla="*/ 152013 h 347230"/>
                <a:gd name="connsiteX4-31" fmla="*/ 345876 w 390432"/>
                <a:gd name="connsiteY4-32" fmla="*/ 0 h 347230"/>
                <a:gd name="connsiteX5-33" fmla="*/ 82214 w 390432"/>
                <a:gd name="connsiteY5-34" fmla="*/ 19397 h 347230"/>
                <a:gd name="connsiteX0-35" fmla="*/ 390432 w 390432"/>
                <a:gd name="connsiteY0-36" fmla="*/ 152014 h 347230"/>
                <a:gd name="connsiteX1-37" fmla="*/ 195216 w 390432"/>
                <a:gd name="connsiteY1-38" fmla="*/ 347230 h 347230"/>
                <a:gd name="connsiteX2-39" fmla="*/ 0 w 390432"/>
                <a:gd name="connsiteY2-40" fmla="*/ 152014 h 347230"/>
                <a:gd name="connsiteX3-41" fmla="*/ 0 w 390432"/>
                <a:gd name="connsiteY3-42" fmla="*/ 152013 h 347230"/>
                <a:gd name="connsiteX4-43" fmla="*/ 345876 w 390432"/>
                <a:gd name="connsiteY4-44" fmla="*/ 0 h 347230"/>
                <a:gd name="connsiteX0-45" fmla="*/ 390432 w 390432"/>
                <a:gd name="connsiteY0-46" fmla="*/ 1 h 195217"/>
                <a:gd name="connsiteX1-47" fmla="*/ 195216 w 390432"/>
                <a:gd name="connsiteY1-48" fmla="*/ 195217 h 195217"/>
                <a:gd name="connsiteX2-49" fmla="*/ 0 w 390432"/>
                <a:gd name="connsiteY2-50" fmla="*/ 1 h 195217"/>
                <a:gd name="connsiteX3-51" fmla="*/ 0 w 390432"/>
                <a:gd name="connsiteY3-52" fmla="*/ 0 h 19521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0432" h="195217">
                  <a:moveTo>
                    <a:pt x="390432" y="1"/>
                  </a:moveTo>
                  <a:cubicBezTo>
                    <a:pt x="390432" y="107816"/>
                    <a:pt x="303031" y="195217"/>
                    <a:pt x="195216" y="195217"/>
                  </a:cubicBezTo>
                  <a:cubicBezTo>
                    <a:pt x="87401" y="195217"/>
                    <a:pt x="0" y="107816"/>
                    <a:pt x="0" y="1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3588145" y="3550267"/>
              <a:ext cx="480935" cy="480935"/>
            </a:xfrm>
            <a:prstGeom prst="ellipse">
              <a:avLst/>
            </a:prstGeom>
            <a:noFill/>
            <a:ln w="19050">
              <a:gradFill flip="none" rotWithShape="1">
                <a:gsLst>
                  <a:gs pos="48000">
                    <a:srgbClr val="0070C0"/>
                  </a:gs>
                  <a:gs pos="100000">
                    <a:srgbClr val="7030A0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3694616" y="3685282"/>
              <a:ext cx="67057" cy="670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3886267" y="3685282"/>
              <a:ext cx="67057" cy="670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3627849" y="3557818"/>
            <a:ext cx="1624898" cy="609600"/>
            <a:chOff x="3522662" y="3481618"/>
            <a:chExt cx="1624898" cy="609600"/>
          </a:xfrm>
        </p:grpSpPr>
        <p:grpSp>
          <p:nvGrpSpPr>
            <p:cNvPr id="53" name="组合 52"/>
            <p:cNvGrpSpPr/>
            <p:nvPr/>
          </p:nvGrpSpPr>
          <p:grpSpPr>
            <a:xfrm>
              <a:off x="3522662" y="3481618"/>
              <a:ext cx="1624898" cy="609600"/>
              <a:chOff x="3497497" y="3222539"/>
              <a:chExt cx="3204274" cy="609600"/>
            </a:xfrm>
          </p:grpSpPr>
          <p:sp>
            <p:nvSpPr>
              <p:cNvPr id="58" name="矩形: 圆角 57"/>
              <p:cNvSpPr/>
              <p:nvPr/>
            </p:nvSpPr>
            <p:spPr>
              <a:xfrm>
                <a:off x="3497497" y="3222539"/>
                <a:ext cx="2945824" cy="6096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54000" sx="101000" sy="101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4598746" y="3310458"/>
                <a:ext cx="21030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>
                    <a:gradFill>
                      <a:gsLst>
                        <a:gs pos="0">
                          <a:srgbClr val="7030A0"/>
                        </a:gs>
                        <a:gs pos="70000">
                          <a:srgbClr val="0070C0"/>
                        </a:gs>
                      </a:gsLst>
                      <a:lin ang="13500000" scaled="1"/>
                    </a:gra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defRPr>
                </a:lvl1pPr>
              </a:lstStyle>
              <a:p>
                <a:r>
                  <a:rPr lang="zh-CN" altLang="en-US" dirty="0"/>
                  <a:t>简单</a:t>
                </a:r>
                <a:endParaRPr lang="zh-CN" altLang="en-US" dirty="0"/>
              </a:p>
            </p:txBody>
          </p:sp>
        </p:grpSp>
        <p:sp>
          <p:nvSpPr>
            <p:cNvPr id="54" name="任意多边形: 形状 53"/>
            <p:cNvSpPr/>
            <p:nvPr/>
          </p:nvSpPr>
          <p:spPr>
            <a:xfrm>
              <a:off x="3685816" y="3820372"/>
              <a:ext cx="285592" cy="142797"/>
            </a:xfrm>
            <a:custGeom>
              <a:avLst/>
              <a:gdLst>
                <a:gd name="connsiteX0" fmla="*/ 0 w 390432"/>
                <a:gd name="connsiteY0" fmla="*/ 0 h 195217"/>
                <a:gd name="connsiteX1" fmla="*/ 390432 w 390432"/>
                <a:gd name="connsiteY1" fmla="*/ 0 h 195217"/>
                <a:gd name="connsiteX2" fmla="*/ 390432 w 390432"/>
                <a:gd name="connsiteY2" fmla="*/ 1 h 195217"/>
                <a:gd name="connsiteX3" fmla="*/ 195216 w 390432"/>
                <a:gd name="connsiteY3" fmla="*/ 195217 h 195217"/>
                <a:gd name="connsiteX4" fmla="*/ 0 w 390432"/>
                <a:gd name="connsiteY4" fmla="*/ 1 h 195217"/>
                <a:gd name="connsiteX0-1" fmla="*/ 390432 w 491074"/>
                <a:gd name="connsiteY0-2" fmla="*/ 1 h 195217"/>
                <a:gd name="connsiteX1-3" fmla="*/ 195216 w 491074"/>
                <a:gd name="connsiteY1-4" fmla="*/ 195217 h 195217"/>
                <a:gd name="connsiteX2-5" fmla="*/ 0 w 491074"/>
                <a:gd name="connsiteY2-6" fmla="*/ 1 h 195217"/>
                <a:gd name="connsiteX3-7" fmla="*/ 0 w 491074"/>
                <a:gd name="connsiteY3-8" fmla="*/ 0 h 195217"/>
                <a:gd name="connsiteX4-9" fmla="*/ 390432 w 491074"/>
                <a:gd name="connsiteY4-10" fmla="*/ 0 h 195217"/>
                <a:gd name="connsiteX5" fmla="*/ 491074 w 491074"/>
                <a:gd name="connsiteY5" fmla="*/ 100643 h 195217"/>
                <a:gd name="connsiteX0-11" fmla="*/ 390432 w 390432"/>
                <a:gd name="connsiteY0-12" fmla="*/ 1 h 195217"/>
                <a:gd name="connsiteX1-13" fmla="*/ 195216 w 390432"/>
                <a:gd name="connsiteY1-14" fmla="*/ 195217 h 195217"/>
                <a:gd name="connsiteX2-15" fmla="*/ 0 w 390432"/>
                <a:gd name="connsiteY2-16" fmla="*/ 1 h 195217"/>
                <a:gd name="connsiteX3-17" fmla="*/ 0 w 390432"/>
                <a:gd name="connsiteY3-18" fmla="*/ 0 h 195217"/>
                <a:gd name="connsiteX4-19" fmla="*/ 390432 w 390432"/>
                <a:gd name="connsiteY4-20" fmla="*/ 0 h 195217"/>
                <a:gd name="connsiteX0-21" fmla="*/ 390432 w 390432"/>
                <a:gd name="connsiteY0-22" fmla="*/ 62903 h 258119"/>
                <a:gd name="connsiteX1-23" fmla="*/ 195216 w 390432"/>
                <a:gd name="connsiteY1-24" fmla="*/ 258119 h 258119"/>
                <a:gd name="connsiteX2-25" fmla="*/ 0 w 390432"/>
                <a:gd name="connsiteY2-26" fmla="*/ 62903 h 258119"/>
                <a:gd name="connsiteX3-27" fmla="*/ 0 w 390432"/>
                <a:gd name="connsiteY3-28" fmla="*/ 62902 h 258119"/>
                <a:gd name="connsiteX4-29" fmla="*/ 372959 w 390432"/>
                <a:gd name="connsiteY4-30" fmla="*/ 0 h 258119"/>
                <a:gd name="connsiteX0-31" fmla="*/ 390432 w 390432"/>
                <a:gd name="connsiteY0-32" fmla="*/ 1 h 195217"/>
                <a:gd name="connsiteX1-33" fmla="*/ 195216 w 390432"/>
                <a:gd name="connsiteY1-34" fmla="*/ 195217 h 195217"/>
                <a:gd name="connsiteX2-35" fmla="*/ 0 w 390432"/>
                <a:gd name="connsiteY2-36" fmla="*/ 1 h 195217"/>
                <a:gd name="connsiteX3-37" fmla="*/ 0 w 390432"/>
                <a:gd name="connsiteY3-38" fmla="*/ 0 h 19521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0432" h="195217">
                  <a:moveTo>
                    <a:pt x="390432" y="1"/>
                  </a:moveTo>
                  <a:cubicBezTo>
                    <a:pt x="390432" y="107816"/>
                    <a:pt x="303031" y="195217"/>
                    <a:pt x="195216" y="195217"/>
                  </a:cubicBezTo>
                  <a:cubicBezTo>
                    <a:pt x="87401" y="195217"/>
                    <a:pt x="0" y="107816"/>
                    <a:pt x="0" y="1"/>
                  </a:cubicBezTo>
                  <a:lnTo>
                    <a:pt x="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3588145" y="3550267"/>
              <a:ext cx="480935" cy="480935"/>
            </a:xfrm>
            <a:prstGeom prst="ellipse">
              <a:avLst/>
            </a:prstGeom>
            <a:noFill/>
            <a:ln w="19050">
              <a:gradFill flip="none" rotWithShape="1">
                <a:gsLst>
                  <a:gs pos="48000">
                    <a:srgbClr val="0070C0"/>
                  </a:gs>
                  <a:gs pos="100000">
                    <a:srgbClr val="7030A0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3694616" y="3685282"/>
              <a:ext cx="67057" cy="670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3886267" y="3685282"/>
              <a:ext cx="67057" cy="670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352740" y="3557818"/>
            <a:ext cx="1624898" cy="609600"/>
            <a:chOff x="5367004" y="3545118"/>
            <a:chExt cx="1624898" cy="609600"/>
          </a:xfrm>
        </p:grpSpPr>
        <p:grpSp>
          <p:nvGrpSpPr>
            <p:cNvPr id="30" name="组合 29"/>
            <p:cNvGrpSpPr/>
            <p:nvPr/>
          </p:nvGrpSpPr>
          <p:grpSpPr>
            <a:xfrm>
              <a:off x="5367004" y="3545118"/>
              <a:ext cx="1624898" cy="609600"/>
              <a:chOff x="3522662" y="3481618"/>
              <a:chExt cx="1624898" cy="609600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3522662" y="3481618"/>
                <a:ext cx="1624898" cy="609600"/>
                <a:chOff x="3497497" y="3222539"/>
                <a:chExt cx="3204274" cy="609600"/>
              </a:xfrm>
            </p:grpSpPr>
            <p:sp>
              <p:nvSpPr>
                <p:cNvPr id="42" name="矩形: 圆角 41"/>
                <p:cNvSpPr/>
                <p:nvPr/>
              </p:nvSpPr>
              <p:spPr>
                <a:xfrm>
                  <a:off x="3497497" y="3222539"/>
                  <a:ext cx="2945824" cy="6096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254000" sx="101000" sy="101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4598746" y="3310458"/>
                  <a:ext cx="210302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2400">
                      <a:gradFill>
                        <a:gsLst>
                          <a:gs pos="0">
                            <a:srgbClr val="7030A0"/>
                          </a:gs>
                          <a:gs pos="70000">
                            <a:srgbClr val="0070C0"/>
                          </a:gs>
                        </a:gsLst>
                        <a:lin ang="13500000" scaled="1"/>
                      </a:gradFill>
                      <a:latin typeface="HarmonyOS Sans SC Medium" panose="00000600000000000000" pitchFamily="2" charset="-122"/>
                      <a:ea typeface="HarmonyOS Sans SC Medium" panose="00000600000000000000" pitchFamily="2" charset="-122"/>
                    </a:defRPr>
                  </a:lvl1pPr>
                </a:lstStyle>
                <a:p>
                  <a:r>
                    <a:rPr lang="zh-CN" altLang="en-US" dirty="0"/>
                    <a:t>正常</a:t>
                  </a:r>
                  <a:endParaRPr lang="zh-CN" altLang="en-US" dirty="0"/>
                </a:p>
              </p:txBody>
            </p:sp>
          </p:grpSp>
          <p:sp>
            <p:nvSpPr>
              <p:cNvPr id="39" name="椭圆 38"/>
              <p:cNvSpPr/>
              <p:nvPr/>
            </p:nvSpPr>
            <p:spPr>
              <a:xfrm>
                <a:off x="3588145" y="3550267"/>
                <a:ext cx="480935" cy="480935"/>
              </a:xfrm>
              <a:prstGeom prst="ellipse">
                <a:avLst/>
              </a:prstGeom>
              <a:noFill/>
              <a:ln w="19050">
                <a:gradFill flip="none" rotWithShape="1">
                  <a:gsLst>
                    <a:gs pos="48000">
                      <a:srgbClr val="0070C0"/>
                    </a:gs>
                    <a:gs pos="100000">
                      <a:srgbClr val="7030A0"/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3694616" y="3685282"/>
                <a:ext cx="67057" cy="67057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3886267" y="3685282"/>
                <a:ext cx="67057" cy="67057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1" name="直接连接符 60"/>
            <p:cNvCxnSpPr/>
            <p:nvPr/>
          </p:nvCxnSpPr>
          <p:spPr>
            <a:xfrm>
              <a:off x="5561311" y="3955270"/>
              <a:ext cx="223285" cy="0"/>
            </a:xfrm>
            <a:prstGeom prst="line">
              <a:avLst/>
            </a:prstGeom>
            <a:noFill/>
            <a:ln w="19050">
              <a:gradFill flip="none" rotWithShape="1">
                <a:gsLst>
                  <a:gs pos="48000">
                    <a:srgbClr val="0070C0"/>
                  </a:gs>
                  <a:gs pos="100000">
                    <a:srgbClr val="7030A0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6" name="组合 65"/>
          <p:cNvGrpSpPr/>
          <p:nvPr/>
        </p:nvGrpSpPr>
        <p:grpSpPr>
          <a:xfrm>
            <a:off x="7752090" y="4486873"/>
            <a:ext cx="943750" cy="389412"/>
            <a:chOff x="7752090" y="4486873"/>
            <a:chExt cx="943750" cy="389412"/>
          </a:xfrm>
        </p:grpSpPr>
        <p:sp>
          <p:nvSpPr>
            <p:cNvPr id="65" name="矩形: 圆角 64"/>
            <p:cNvSpPr/>
            <p:nvPr/>
          </p:nvSpPr>
          <p:spPr>
            <a:xfrm>
              <a:off x="7752090" y="4486873"/>
              <a:ext cx="943750" cy="38512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54000" sx="101000" sy="101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8031892" y="4506953"/>
              <a:ext cx="6461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armonyOS Sans SC Medium" panose="00000600000000000000" pitchFamily="2" charset="-122"/>
                  <a:ea typeface="HarmonyOS Sans SC Medium" panose="00000600000000000000" pitchFamily="2" charset="-122"/>
                </a:rPr>
                <a:t>返回</a:t>
              </a:r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endParaRPr>
            </a:p>
          </p:txBody>
        </p:sp>
        <p:sp>
          <p:nvSpPr>
            <p:cNvPr id="64" name="箭头: 右弧形 63"/>
            <p:cNvSpPr/>
            <p:nvPr/>
          </p:nvSpPr>
          <p:spPr>
            <a:xfrm flipV="1">
              <a:off x="7883113" y="4560619"/>
              <a:ext cx="212357" cy="222045"/>
            </a:xfrm>
            <a:prstGeom prst="curvedLef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g4NWJmOWFhMmZmNTczMDEwNzdhZWJjOWZhMDExMmUifQ=="/>
  <p:tag name="KSO_WPP_MARK_KEY" val="fe666c62-f738-4b6f-925f-a0581a8fd0fb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新建 PPT 演示文稿</Template>
  <TotalTime>0</TotalTime>
  <Words>145</Words>
  <Application>WPS 演示</Application>
  <PresentationFormat>宽屏</PresentationFormat>
  <Paragraphs>36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字体圈欣意冠黑体</vt:lpstr>
      <vt:lpstr>HarmonyOS Sans SC Medium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放</dc:creator>
  <cp:lastModifiedBy>godislee</cp:lastModifiedBy>
  <cp:revision>7</cp:revision>
  <dcterms:created xsi:type="dcterms:W3CDTF">2023-01-07T08:02:00Z</dcterms:created>
  <dcterms:modified xsi:type="dcterms:W3CDTF">2023-02-11T11:09:02Z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01F9355FC3F843009FACF3D395440FC0</vt:lpwstr>
  </property>
  <property fmtid="{D5CDD505-2E9C-101B-9397-08002B2CF9AE}" pid="3" name="KSOProductBuildVer">
    <vt:lpwstr>2052-11.1.0.13703</vt:lpwstr>
  </property>
</Properties>
</file>